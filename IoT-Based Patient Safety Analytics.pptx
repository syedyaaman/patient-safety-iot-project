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21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86C567-0F4F-4C9B-983A-9EEB17239C3F}" type="datetimeFigureOut">
              <a:rPr lang="en-US" smtClean="0"/>
              <a:t>12/25/2025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C1BC6F-4FC8-4075-8D2D-0D71CE330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813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1BC6F-4FC8-4075-8D2D-0D71CE330F2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8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659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282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596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406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12/25/2025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914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12/25/2025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53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12/25/2025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632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12/25/2025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885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737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48973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65202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6460991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03828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12/25/2025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23974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12/25/2025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3294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5900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53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7715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on laser lights aligned to form a triangle">
            <a:extLst>
              <a:ext uri="{FF2B5EF4-FFF2-40B4-BE49-F238E27FC236}">
                <a16:creationId xmlns:a16="http://schemas.microsoft.com/office/drawing/2014/main" id="{626AA5A2-212B-2EE7-133B-245BC493A1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916" b="108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D442B8-F0C8-DDCE-1402-52BCF861FD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4908" y="485419"/>
            <a:ext cx="4470544" cy="3474720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5800" dirty="0"/>
              <a:t>IoT-Based Patient Safety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7FC9A5-0218-DC88-F793-40A631BEC3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7795" y="5222600"/>
            <a:ext cx="4116410" cy="1386840"/>
          </a:xfrm>
        </p:spPr>
        <p:txBody>
          <a:bodyPr anchor="t">
            <a:normAutofit/>
          </a:bodyPr>
          <a:lstStyle/>
          <a:p>
            <a:pPr algn="l"/>
            <a:r>
              <a:rPr lang="en-US" sz="2200" dirty="0"/>
              <a:t>By </a:t>
            </a:r>
          </a:p>
          <a:p>
            <a:pPr algn="l"/>
            <a:r>
              <a:rPr lang="en-US" sz="2200" dirty="0"/>
              <a:t>Syed muhammad yaaman</a:t>
            </a:r>
          </a:p>
        </p:txBody>
      </p:sp>
    </p:spTree>
    <p:extLst>
      <p:ext uri="{BB962C8B-B14F-4D97-AF65-F5344CB8AC3E}">
        <p14:creationId xmlns:p14="http://schemas.microsoft.com/office/powerpoint/2010/main" val="711595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C534E-2281-4012-6147-B0E119DD1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7A765-78B8-8AD5-6B12-9BAB71CD4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Analyze global patient safety indicators</a:t>
            </a:r>
          </a:p>
          <a:p>
            <a:r>
              <a:rPr lang="en-US" dirty="0"/>
              <a:t>• Use public health dataset</a:t>
            </a:r>
          </a:p>
          <a:p>
            <a:r>
              <a:rPr lang="en-US" dirty="0"/>
              <a:t>• Apply data analytics and regression</a:t>
            </a:r>
          </a:p>
          <a:p>
            <a:r>
              <a:rPr lang="en-US" dirty="0"/>
              <a:t>• Demonstrate IoT-cloud concept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637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B06E5-02F5-627F-15E4-807D19542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D9B58-8821-7DC2-643E-735CFF1B6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Source: Global Patient Safety Observatory</a:t>
            </a:r>
          </a:p>
          <a:p>
            <a:r>
              <a:rPr lang="en-US" dirty="0"/>
              <a:t>• Format: CSV</a:t>
            </a:r>
          </a:p>
          <a:p>
            <a:r>
              <a:rPr lang="en-US" dirty="0"/>
              <a:t>• Records: Multiple countries &amp; years</a:t>
            </a:r>
          </a:p>
          <a:p>
            <a:r>
              <a:rPr lang="en-US" dirty="0"/>
              <a:t>• Key fields: Location, Period, Indicator, Value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309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75A55-12F7-98ED-71D6-1E7AD759B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041F2-4AA9-31F0-8E06-CA6A9E00E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Checked missing values</a:t>
            </a:r>
          </a:p>
          <a:p>
            <a:r>
              <a:rPr lang="en-US" dirty="0"/>
              <a:t>• Analyzed trends over time</a:t>
            </a:r>
          </a:p>
          <a:p>
            <a:r>
              <a:rPr lang="en-US" dirty="0"/>
              <a:t>• Visualized patient safety indicators</a:t>
            </a:r>
          </a:p>
          <a:p>
            <a:r>
              <a:rPr lang="en-US" dirty="0"/>
              <a:t>• Identified data patterns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110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65617-F975-B82A-8538-CF190D79C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0C496-F775-8020-6FB4-5CE943F5E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Built simple regression model</a:t>
            </a:r>
          </a:p>
          <a:p>
            <a:r>
              <a:rPr lang="en-US" dirty="0"/>
              <a:t>• Period as input feature</a:t>
            </a:r>
          </a:p>
          <a:p>
            <a:r>
              <a:rPr lang="en-US" dirty="0"/>
              <a:t>• Patient safety value as output</a:t>
            </a:r>
          </a:p>
          <a:p>
            <a:r>
              <a:rPr lang="en-US" dirty="0"/>
              <a:t>• Used for trend prediction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42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9E0FE-C1B7-A1EC-F1B3-5161F08ED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&amp; Cloud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B92A5-C374-83F1-31D0-5A0737116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Healthcare devices generate data</a:t>
            </a:r>
          </a:p>
          <a:p>
            <a:r>
              <a:rPr lang="en-US" dirty="0"/>
              <a:t>• Data stored on AWS S3 cloud</a:t>
            </a:r>
          </a:p>
          <a:p>
            <a:r>
              <a:rPr lang="en-US" dirty="0"/>
              <a:t>• Data analyzed using notebooks</a:t>
            </a:r>
          </a:p>
          <a:p>
            <a:r>
              <a:rPr lang="en-US" dirty="0"/>
              <a:t>• Supports smart healthcare decisions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146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C5288-216A-4EE9-AEAD-094466395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&amp;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80444-12DC-6FC6-D4F5-8360FC755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Patient safety trends identified</a:t>
            </a:r>
          </a:p>
          <a:p>
            <a:r>
              <a:rPr lang="en-US" dirty="0"/>
              <a:t>• Data-driven understanding</a:t>
            </a:r>
          </a:p>
          <a:p>
            <a:r>
              <a:rPr lang="en-US" dirty="0"/>
              <a:t>• Supports healthcare planning</a:t>
            </a:r>
          </a:p>
        </p:txBody>
      </p:sp>
    </p:spTree>
    <p:extLst>
      <p:ext uri="{BB962C8B-B14F-4D97-AF65-F5344CB8AC3E}">
        <p14:creationId xmlns:p14="http://schemas.microsoft.com/office/powerpoint/2010/main" val="1335263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A30EE-8609-CC16-B1EF-9D6D204BC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4BEDD-6F82-FEBB-BE4E-C54387B81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Project demonstrates IoT + analytics</a:t>
            </a:r>
          </a:p>
          <a:p>
            <a:r>
              <a:rPr lang="en-US" dirty="0"/>
              <a:t>• Public health data successfully analyzed</a:t>
            </a:r>
          </a:p>
          <a:p>
            <a:r>
              <a:rPr lang="en-US" dirty="0"/>
              <a:t>• Cloud integration shown using AWS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157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12E3267-7ABE-412B-8580-47EC0D1F6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0B62C5A-2250-4380-AB23-DB87446CC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D42CF425-7213-4F89-B0FF-4C2BDDD9C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35DA97D-88F8-4249-B650-4FC9FD50A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3F38673-6E30-4BAE-AC67-0B283EBF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202A25CB-1ED1-4C87-AB49-8D3BC684D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EA8ACEA-5B4B-4AC6-A227-6A0E014A5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54BE42-0A76-4E08-8E93-933FEE575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9" name="Freeform 15">
            <a:extLst>
              <a:ext uri="{FF2B5EF4-FFF2-40B4-BE49-F238E27FC236}">
                <a16:creationId xmlns:a16="http://schemas.microsoft.com/office/drawing/2014/main" id="{BC170363-AD0C-449E-B5CC-30A228247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025DCE5-64A6-381F-A608-D23FAF29EF3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4294989" y="1086191"/>
            <a:ext cx="5491277" cy="2841735"/>
          </a:xfrm>
          <a:prstGeom prst="rect">
            <a:avLst/>
          </a:prstGeom>
          <a:effectLst/>
        </p:spPr>
      </p:pic>
      <p:sp useBgFill="1">
        <p:nvSpPr>
          <p:cNvPr id="31" name="Freeform 5">
            <a:extLst>
              <a:ext uri="{FF2B5EF4-FFF2-40B4-BE49-F238E27FC236}">
                <a16:creationId xmlns:a16="http://schemas.microsoft.com/office/drawing/2014/main" id="{1F63DF7C-AFED-49CB-8FAF-B69387E9C3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4055532"/>
            <a:ext cx="12191695" cy="2802467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3013CC-EDC1-DEC6-D89F-891C2579C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58" y="4854344"/>
            <a:ext cx="9345155" cy="86180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Files and folder layout </a:t>
            </a:r>
          </a:p>
        </p:txBody>
      </p:sp>
      <p:pic>
        <p:nvPicPr>
          <p:cNvPr id="6" name="Content Placeholder 5" descr="A screenshot of a computer">
            <a:extLst>
              <a:ext uri="{FF2B5EF4-FFF2-40B4-BE49-F238E27FC236}">
                <a16:creationId xmlns:a16="http://schemas.microsoft.com/office/drawing/2014/main" id="{759ECE02-EE82-5395-A17A-CA0996608DC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8"/>
          <a:stretch>
            <a:fillRect/>
          </a:stretch>
        </p:blipFill>
        <p:spPr>
          <a:xfrm>
            <a:off x="643856" y="1521499"/>
            <a:ext cx="3500258" cy="240642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735615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27CF008-4B18-436D-B2D5-C1346C124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22DAD8-5F67-4B73-ADA9-06EF381F7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6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8D75CE-219E-47DE-A275-F65A242342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635458" y="640081"/>
            <a:ext cx="4620132" cy="3291844"/>
          </a:xfrm>
          <a:prstGeom prst="rect">
            <a:avLst/>
          </a:prstGeom>
          <a:effectLst/>
        </p:spPr>
      </p:pic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F41B34-3024-4F05-0CC9-BBD92DEA2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16" y="4854346"/>
            <a:ext cx="9149350" cy="86802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Eda  </a:t>
            </a:r>
          </a:p>
        </p:txBody>
      </p:sp>
    </p:spTree>
    <p:extLst>
      <p:ext uri="{BB962C8B-B14F-4D97-AF65-F5344CB8AC3E}">
        <p14:creationId xmlns:p14="http://schemas.microsoft.com/office/powerpoint/2010/main" val="16305519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B4087D-6878-68DB-C6B1-88C6C7DD6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Regression model</a:t>
            </a:r>
          </a:p>
        </p:txBody>
      </p:sp>
      <p:sp>
        <p:nvSpPr>
          <p:cNvPr id="24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A942A9CE-038F-14CD-4171-EA4D36FDAE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643854" y="294968"/>
            <a:ext cx="6270662" cy="594851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1816746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D33C7F-77F1-A861-FAC4-A41A27FD2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readme.md</a:t>
            </a:r>
          </a:p>
        </p:txBody>
      </p:sp>
      <p:sp>
        <p:nvSpPr>
          <p:cNvPr id="24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F45D81-F90C-2639-674D-703596C020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178677" y="336331"/>
            <a:ext cx="7169116" cy="612753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2040797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2B05C8-EA34-006B-5145-72BA6D7EE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Processed data</a:t>
            </a:r>
          </a:p>
        </p:txBody>
      </p:sp>
      <p:sp>
        <p:nvSpPr>
          <p:cNvPr id="24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9CBD8EA-EC7E-B6F4-8F31-02C87A681A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763588" y="283780"/>
            <a:ext cx="5865080" cy="592605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9723004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12E3267-7ABE-412B-8580-47EC0D1F6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0B62C5A-2250-4380-AB23-DB87446CC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D42CF425-7213-4F89-B0FF-4C2BDDD9C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35DA97D-88F8-4249-B650-4FC9FD50A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3F38673-6E30-4BAE-AC67-0B283EBF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202A25CB-1ED1-4C87-AB49-8D3BC684D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590CF2-D632-FB4A-A37B-98E603921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0623" y="1447800"/>
            <a:ext cx="3333676" cy="309698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Raw data 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484F10F-334C-431A-8E30-B66B496C5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475977" y="-475977"/>
            <a:ext cx="6858000" cy="7809953"/>
          </a:xfrm>
          <a:custGeom>
            <a:avLst/>
            <a:gdLst>
              <a:gd name="connsiteX0" fmla="*/ 6858000 w 6858000"/>
              <a:gd name="connsiteY0" fmla="*/ 1344715 h 7809953"/>
              <a:gd name="connsiteX1" fmla="*/ 6858000 w 6858000"/>
              <a:gd name="connsiteY1" fmla="*/ 1177 h 7809953"/>
              <a:gd name="connsiteX2" fmla="*/ 6702323 w 6858000"/>
              <a:gd name="connsiteY2" fmla="*/ 26222 h 7809953"/>
              <a:gd name="connsiteX3" fmla="*/ 6547332 w 6858000"/>
              <a:gd name="connsiteY3" fmla="*/ 50091 h 7809953"/>
              <a:gd name="connsiteX4" fmla="*/ 6391656 w 6858000"/>
              <a:gd name="connsiteY4" fmla="*/ 73455 h 7809953"/>
              <a:gd name="connsiteX5" fmla="*/ 6235293 w 6858000"/>
              <a:gd name="connsiteY5" fmla="*/ 93458 h 7809953"/>
              <a:gd name="connsiteX6" fmla="*/ 6079617 w 6858000"/>
              <a:gd name="connsiteY6" fmla="*/ 113629 h 7809953"/>
              <a:gd name="connsiteX7" fmla="*/ 5923254 w 6858000"/>
              <a:gd name="connsiteY7" fmla="*/ 132455 h 7809953"/>
              <a:gd name="connsiteX8" fmla="*/ 5768949 w 6858000"/>
              <a:gd name="connsiteY8" fmla="*/ 148591 h 7809953"/>
              <a:gd name="connsiteX9" fmla="*/ 5612587 w 6858000"/>
              <a:gd name="connsiteY9" fmla="*/ 163887 h 7809953"/>
              <a:gd name="connsiteX10" fmla="*/ 5456910 w 6858000"/>
              <a:gd name="connsiteY10" fmla="*/ 177839 h 7809953"/>
              <a:gd name="connsiteX11" fmla="*/ 5303977 w 6858000"/>
              <a:gd name="connsiteY11" fmla="*/ 189941 h 7809953"/>
              <a:gd name="connsiteX12" fmla="*/ 5148986 w 6858000"/>
              <a:gd name="connsiteY12" fmla="*/ 202044 h 7809953"/>
              <a:gd name="connsiteX13" fmla="*/ 4996053 w 6858000"/>
              <a:gd name="connsiteY13" fmla="*/ 212129 h 7809953"/>
              <a:gd name="connsiteX14" fmla="*/ 4843119 w 6858000"/>
              <a:gd name="connsiteY14" fmla="*/ 220029 h 7809953"/>
              <a:gd name="connsiteX15" fmla="*/ 4690872 w 6858000"/>
              <a:gd name="connsiteY15" fmla="*/ 228266 h 7809953"/>
              <a:gd name="connsiteX16" fmla="*/ 4539996 w 6858000"/>
              <a:gd name="connsiteY16" fmla="*/ 235157 h 7809953"/>
              <a:gd name="connsiteX17" fmla="*/ 4390491 w 6858000"/>
              <a:gd name="connsiteY17" fmla="*/ 240032 h 7809953"/>
              <a:gd name="connsiteX18" fmla="*/ 4240987 w 6858000"/>
              <a:gd name="connsiteY18" fmla="*/ 244234 h 7809953"/>
              <a:gd name="connsiteX19" fmla="*/ 4092855 w 6858000"/>
              <a:gd name="connsiteY19" fmla="*/ 248268 h 7809953"/>
              <a:gd name="connsiteX20" fmla="*/ 3946779 w 6858000"/>
              <a:gd name="connsiteY20" fmla="*/ 250117 h 7809953"/>
              <a:gd name="connsiteX21" fmla="*/ 3800704 w 6858000"/>
              <a:gd name="connsiteY21" fmla="*/ 252134 h 7809953"/>
              <a:gd name="connsiteX22" fmla="*/ 3656685 w 6858000"/>
              <a:gd name="connsiteY22" fmla="*/ 253143 h 7809953"/>
              <a:gd name="connsiteX23" fmla="*/ 3514039 w 6858000"/>
              <a:gd name="connsiteY23" fmla="*/ 252134 h 7809953"/>
              <a:gd name="connsiteX24" fmla="*/ 3372765 w 6858000"/>
              <a:gd name="connsiteY24" fmla="*/ 252134 h 7809953"/>
              <a:gd name="connsiteX25" fmla="*/ 3232861 w 6858000"/>
              <a:gd name="connsiteY25" fmla="*/ 250117 h 7809953"/>
              <a:gd name="connsiteX26" fmla="*/ 3095701 w 6858000"/>
              <a:gd name="connsiteY26" fmla="*/ 247092 h 7809953"/>
              <a:gd name="connsiteX27" fmla="*/ 2959913 w 6858000"/>
              <a:gd name="connsiteY27" fmla="*/ 244234 h 7809953"/>
              <a:gd name="connsiteX28" fmla="*/ 2826868 w 6858000"/>
              <a:gd name="connsiteY28" fmla="*/ 241040 h 7809953"/>
              <a:gd name="connsiteX29" fmla="*/ 2694508 w 6858000"/>
              <a:gd name="connsiteY29" fmla="*/ 236166 h 7809953"/>
              <a:gd name="connsiteX30" fmla="*/ 2564207 w 6858000"/>
              <a:gd name="connsiteY30" fmla="*/ 230955 h 7809953"/>
              <a:gd name="connsiteX31" fmla="*/ 2436648 w 6858000"/>
              <a:gd name="connsiteY31" fmla="*/ 226249 h 7809953"/>
              <a:gd name="connsiteX32" fmla="*/ 2187702 w 6858000"/>
              <a:gd name="connsiteY32" fmla="*/ 212969 h 7809953"/>
              <a:gd name="connsiteX33" fmla="*/ 1949044 w 6858000"/>
              <a:gd name="connsiteY33" fmla="*/ 198850 h 7809953"/>
              <a:gd name="connsiteX34" fmla="*/ 1719987 w 6858000"/>
              <a:gd name="connsiteY34" fmla="*/ 184058 h 7809953"/>
              <a:gd name="connsiteX35" fmla="*/ 1503274 w 6858000"/>
              <a:gd name="connsiteY35" fmla="*/ 167753 h 7809953"/>
              <a:gd name="connsiteX36" fmla="*/ 1296162 w 6858000"/>
              <a:gd name="connsiteY36" fmla="*/ 150776 h 7809953"/>
              <a:gd name="connsiteX37" fmla="*/ 1104138 w 6858000"/>
              <a:gd name="connsiteY37" fmla="*/ 132455 h 7809953"/>
              <a:gd name="connsiteX38" fmla="*/ 923773 w 6858000"/>
              <a:gd name="connsiteY38" fmla="*/ 114469 h 7809953"/>
              <a:gd name="connsiteX39" fmla="*/ 757809 w 6858000"/>
              <a:gd name="connsiteY39" fmla="*/ 96484 h 7809953"/>
              <a:gd name="connsiteX40" fmla="*/ 605562 w 6858000"/>
              <a:gd name="connsiteY40" fmla="*/ 79507 h 7809953"/>
              <a:gd name="connsiteX41" fmla="*/ 470459 w 6858000"/>
              <a:gd name="connsiteY41" fmla="*/ 63370 h 7809953"/>
              <a:gd name="connsiteX42" fmla="*/ 348387 w 6858000"/>
              <a:gd name="connsiteY42" fmla="*/ 48074 h 7809953"/>
              <a:gd name="connsiteX43" fmla="*/ 245517 w 6858000"/>
              <a:gd name="connsiteY43" fmla="*/ 35299 h 7809953"/>
              <a:gd name="connsiteX44" fmla="*/ 159106 w 6858000"/>
              <a:gd name="connsiteY44" fmla="*/ 23197 h 7809953"/>
              <a:gd name="connsiteX45" fmla="*/ 40462 w 6858000"/>
              <a:gd name="connsiteY45" fmla="*/ 5883 h 7809953"/>
              <a:gd name="connsiteX46" fmla="*/ 0 w 6858000"/>
              <a:gd name="connsiteY46" fmla="*/ 0 h 7809953"/>
              <a:gd name="connsiteX47" fmla="*/ 0 w 6858000"/>
              <a:gd name="connsiteY47" fmla="*/ 652830 h 7809953"/>
              <a:gd name="connsiteX48" fmla="*/ 0 w 6858000"/>
              <a:gd name="connsiteY48" fmla="*/ 652830 h 7809953"/>
              <a:gd name="connsiteX49" fmla="*/ 0 w 6858000"/>
              <a:gd name="connsiteY49" fmla="*/ 7809953 h 7809953"/>
              <a:gd name="connsiteX50" fmla="*/ 6857999 w 6858000"/>
              <a:gd name="connsiteY50" fmla="*/ 7809953 h 7809953"/>
              <a:gd name="connsiteX51" fmla="*/ 6857999 w 6858000"/>
              <a:gd name="connsiteY51" fmla="*/ 1344715 h 7809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0" h="7809953">
                <a:moveTo>
                  <a:pt x="6858000" y="1344715"/>
                </a:moveTo>
                <a:lnTo>
                  <a:pt x="6858000" y="1177"/>
                </a:lnTo>
                <a:lnTo>
                  <a:pt x="6702323" y="26222"/>
                </a:lnTo>
                <a:lnTo>
                  <a:pt x="6547332" y="50091"/>
                </a:lnTo>
                <a:lnTo>
                  <a:pt x="6391656" y="73455"/>
                </a:lnTo>
                <a:lnTo>
                  <a:pt x="6235293" y="93458"/>
                </a:lnTo>
                <a:lnTo>
                  <a:pt x="6079617" y="113629"/>
                </a:lnTo>
                <a:lnTo>
                  <a:pt x="5923254" y="132455"/>
                </a:lnTo>
                <a:lnTo>
                  <a:pt x="5768949" y="148591"/>
                </a:lnTo>
                <a:lnTo>
                  <a:pt x="5612587" y="163887"/>
                </a:lnTo>
                <a:lnTo>
                  <a:pt x="5456910" y="177839"/>
                </a:lnTo>
                <a:lnTo>
                  <a:pt x="5303977" y="189941"/>
                </a:lnTo>
                <a:lnTo>
                  <a:pt x="5148986" y="202044"/>
                </a:lnTo>
                <a:lnTo>
                  <a:pt x="4996053" y="212129"/>
                </a:lnTo>
                <a:lnTo>
                  <a:pt x="4843119" y="220029"/>
                </a:lnTo>
                <a:lnTo>
                  <a:pt x="4690872" y="228266"/>
                </a:lnTo>
                <a:lnTo>
                  <a:pt x="4539996" y="235157"/>
                </a:lnTo>
                <a:lnTo>
                  <a:pt x="4390491" y="240032"/>
                </a:lnTo>
                <a:lnTo>
                  <a:pt x="4240987" y="244234"/>
                </a:lnTo>
                <a:lnTo>
                  <a:pt x="4092855" y="248268"/>
                </a:lnTo>
                <a:lnTo>
                  <a:pt x="3946779" y="250117"/>
                </a:lnTo>
                <a:lnTo>
                  <a:pt x="3800704" y="252134"/>
                </a:lnTo>
                <a:lnTo>
                  <a:pt x="3656685" y="253143"/>
                </a:lnTo>
                <a:lnTo>
                  <a:pt x="3514039" y="252134"/>
                </a:lnTo>
                <a:lnTo>
                  <a:pt x="3372765" y="252134"/>
                </a:lnTo>
                <a:lnTo>
                  <a:pt x="3232861" y="250117"/>
                </a:lnTo>
                <a:lnTo>
                  <a:pt x="3095701" y="247092"/>
                </a:lnTo>
                <a:lnTo>
                  <a:pt x="2959913" y="244234"/>
                </a:lnTo>
                <a:lnTo>
                  <a:pt x="2826868" y="241040"/>
                </a:lnTo>
                <a:lnTo>
                  <a:pt x="2694508" y="236166"/>
                </a:lnTo>
                <a:lnTo>
                  <a:pt x="2564207" y="230955"/>
                </a:lnTo>
                <a:lnTo>
                  <a:pt x="2436648" y="226249"/>
                </a:lnTo>
                <a:lnTo>
                  <a:pt x="2187702" y="212969"/>
                </a:lnTo>
                <a:lnTo>
                  <a:pt x="1949044" y="198850"/>
                </a:lnTo>
                <a:lnTo>
                  <a:pt x="1719987" y="184058"/>
                </a:lnTo>
                <a:lnTo>
                  <a:pt x="1503274" y="167753"/>
                </a:lnTo>
                <a:lnTo>
                  <a:pt x="1296162" y="150776"/>
                </a:lnTo>
                <a:lnTo>
                  <a:pt x="1104138" y="132455"/>
                </a:lnTo>
                <a:lnTo>
                  <a:pt x="923773" y="114469"/>
                </a:lnTo>
                <a:lnTo>
                  <a:pt x="757809" y="96484"/>
                </a:lnTo>
                <a:lnTo>
                  <a:pt x="605562" y="79507"/>
                </a:lnTo>
                <a:lnTo>
                  <a:pt x="470459" y="63370"/>
                </a:lnTo>
                <a:lnTo>
                  <a:pt x="348387" y="48074"/>
                </a:lnTo>
                <a:lnTo>
                  <a:pt x="245517" y="35299"/>
                </a:lnTo>
                <a:lnTo>
                  <a:pt x="159106" y="23197"/>
                </a:lnTo>
                <a:lnTo>
                  <a:pt x="40462" y="5883"/>
                </a:lnTo>
                <a:lnTo>
                  <a:pt x="0" y="0"/>
                </a:lnTo>
                <a:lnTo>
                  <a:pt x="0" y="652830"/>
                </a:lnTo>
                <a:lnTo>
                  <a:pt x="0" y="652830"/>
                </a:lnTo>
                <a:lnTo>
                  <a:pt x="0" y="7809953"/>
                </a:lnTo>
                <a:lnTo>
                  <a:pt x="6857999" y="7809953"/>
                </a:lnTo>
                <a:lnTo>
                  <a:pt x="6857999" y="1344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EE5F9CB-F061-FA65-E46D-49AE14A784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7"/>
          <a:stretch>
            <a:fillRect/>
          </a:stretch>
        </p:blipFill>
        <p:spPr>
          <a:xfrm>
            <a:off x="643854" y="863989"/>
            <a:ext cx="6270662" cy="2226085"/>
          </a:xfrm>
          <a:prstGeom prst="rect">
            <a:avLst/>
          </a:prstGeom>
          <a:effectLst/>
        </p:spPr>
      </p:pic>
      <p:sp>
        <p:nvSpPr>
          <p:cNvPr id="27" name="Freeform 31">
            <a:extLst>
              <a:ext uri="{FF2B5EF4-FFF2-40B4-BE49-F238E27FC236}">
                <a16:creationId xmlns:a16="http://schemas.microsoft.com/office/drawing/2014/main" id="{AEA0BB24-2B23-4B19-996F-58DA607EE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Content Placeholder 7" descr="A screenshot of a computer">
            <a:extLst>
              <a:ext uri="{FF2B5EF4-FFF2-40B4-BE49-F238E27FC236}">
                <a16:creationId xmlns:a16="http://schemas.microsoft.com/office/drawing/2014/main" id="{30996735-CEAB-3C50-694B-A5A7DA51AEA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8"/>
          <a:stretch>
            <a:fillRect/>
          </a:stretch>
        </p:blipFill>
        <p:spPr>
          <a:xfrm>
            <a:off x="643854" y="3341410"/>
            <a:ext cx="6270662" cy="222608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717649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12E3267-7ABE-412B-8580-47EC0D1F6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0B62C5A-2250-4380-AB23-DB87446CC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D42CF425-7213-4F89-B0FF-4C2BDDD9C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35DA97D-88F8-4249-B650-4FC9FD50A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3F38673-6E30-4BAE-AC67-0B283EBF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202A25CB-1ED1-4C87-AB49-8D3BC684D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94AFC-4B87-E184-0778-B14F5CE2C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0623" y="1447800"/>
            <a:ext cx="3333676" cy="309698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Raw data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484F10F-334C-431A-8E30-B66B496C5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475977" y="-475977"/>
            <a:ext cx="6858000" cy="7809953"/>
          </a:xfrm>
          <a:custGeom>
            <a:avLst/>
            <a:gdLst>
              <a:gd name="connsiteX0" fmla="*/ 6858000 w 6858000"/>
              <a:gd name="connsiteY0" fmla="*/ 1344715 h 7809953"/>
              <a:gd name="connsiteX1" fmla="*/ 6858000 w 6858000"/>
              <a:gd name="connsiteY1" fmla="*/ 1177 h 7809953"/>
              <a:gd name="connsiteX2" fmla="*/ 6702323 w 6858000"/>
              <a:gd name="connsiteY2" fmla="*/ 26222 h 7809953"/>
              <a:gd name="connsiteX3" fmla="*/ 6547332 w 6858000"/>
              <a:gd name="connsiteY3" fmla="*/ 50091 h 7809953"/>
              <a:gd name="connsiteX4" fmla="*/ 6391656 w 6858000"/>
              <a:gd name="connsiteY4" fmla="*/ 73455 h 7809953"/>
              <a:gd name="connsiteX5" fmla="*/ 6235293 w 6858000"/>
              <a:gd name="connsiteY5" fmla="*/ 93458 h 7809953"/>
              <a:gd name="connsiteX6" fmla="*/ 6079617 w 6858000"/>
              <a:gd name="connsiteY6" fmla="*/ 113629 h 7809953"/>
              <a:gd name="connsiteX7" fmla="*/ 5923254 w 6858000"/>
              <a:gd name="connsiteY7" fmla="*/ 132455 h 7809953"/>
              <a:gd name="connsiteX8" fmla="*/ 5768949 w 6858000"/>
              <a:gd name="connsiteY8" fmla="*/ 148591 h 7809953"/>
              <a:gd name="connsiteX9" fmla="*/ 5612587 w 6858000"/>
              <a:gd name="connsiteY9" fmla="*/ 163887 h 7809953"/>
              <a:gd name="connsiteX10" fmla="*/ 5456910 w 6858000"/>
              <a:gd name="connsiteY10" fmla="*/ 177839 h 7809953"/>
              <a:gd name="connsiteX11" fmla="*/ 5303977 w 6858000"/>
              <a:gd name="connsiteY11" fmla="*/ 189941 h 7809953"/>
              <a:gd name="connsiteX12" fmla="*/ 5148986 w 6858000"/>
              <a:gd name="connsiteY12" fmla="*/ 202044 h 7809953"/>
              <a:gd name="connsiteX13" fmla="*/ 4996053 w 6858000"/>
              <a:gd name="connsiteY13" fmla="*/ 212129 h 7809953"/>
              <a:gd name="connsiteX14" fmla="*/ 4843119 w 6858000"/>
              <a:gd name="connsiteY14" fmla="*/ 220029 h 7809953"/>
              <a:gd name="connsiteX15" fmla="*/ 4690872 w 6858000"/>
              <a:gd name="connsiteY15" fmla="*/ 228266 h 7809953"/>
              <a:gd name="connsiteX16" fmla="*/ 4539996 w 6858000"/>
              <a:gd name="connsiteY16" fmla="*/ 235157 h 7809953"/>
              <a:gd name="connsiteX17" fmla="*/ 4390491 w 6858000"/>
              <a:gd name="connsiteY17" fmla="*/ 240032 h 7809953"/>
              <a:gd name="connsiteX18" fmla="*/ 4240987 w 6858000"/>
              <a:gd name="connsiteY18" fmla="*/ 244234 h 7809953"/>
              <a:gd name="connsiteX19" fmla="*/ 4092855 w 6858000"/>
              <a:gd name="connsiteY19" fmla="*/ 248268 h 7809953"/>
              <a:gd name="connsiteX20" fmla="*/ 3946779 w 6858000"/>
              <a:gd name="connsiteY20" fmla="*/ 250117 h 7809953"/>
              <a:gd name="connsiteX21" fmla="*/ 3800704 w 6858000"/>
              <a:gd name="connsiteY21" fmla="*/ 252134 h 7809953"/>
              <a:gd name="connsiteX22" fmla="*/ 3656685 w 6858000"/>
              <a:gd name="connsiteY22" fmla="*/ 253143 h 7809953"/>
              <a:gd name="connsiteX23" fmla="*/ 3514039 w 6858000"/>
              <a:gd name="connsiteY23" fmla="*/ 252134 h 7809953"/>
              <a:gd name="connsiteX24" fmla="*/ 3372765 w 6858000"/>
              <a:gd name="connsiteY24" fmla="*/ 252134 h 7809953"/>
              <a:gd name="connsiteX25" fmla="*/ 3232861 w 6858000"/>
              <a:gd name="connsiteY25" fmla="*/ 250117 h 7809953"/>
              <a:gd name="connsiteX26" fmla="*/ 3095701 w 6858000"/>
              <a:gd name="connsiteY26" fmla="*/ 247092 h 7809953"/>
              <a:gd name="connsiteX27" fmla="*/ 2959913 w 6858000"/>
              <a:gd name="connsiteY27" fmla="*/ 244234 h 7809953"/>
              <a:gd name="connsiteX28" fmla="*/ 2826868 w 6858000"/>
              <a:gd name="connsiteY28" fmla="*/ 241040 h 7809953"/>
              <a:gd name="connsiteX29" fmla="*/ 2694508 w 6858000"/>
              <a:gd name="connsiteY29" fmla="*/ 236166 h 7809953"/>
              <a:gd name="connsiteX30" fmla="*/ 2564207 w 6858000"/>
              <a:gd name="connsiteY30" fmla="*/ 230955 h 7809953"/>
              <a:gd name="connsiteX31" fmla="*/ 2436648 w 6858000"/>
              <a:gd name="connsiteY31" fmla="*/ 226249 h 7809953"/>
              <a:gd name="connsiteX32" fmla="*/ 2187702 w 6858000"/>
              <a:gd name="connsiteY32" fmla="*/ 212969 h 7809953"/>
              <a:gd name="connsiteX33" fmla="*/ 1949044 w 6858000"/>
              <a:gd name="connsiteY33" fmla="*/ 198850 h 7809953"/>
              <a:gd name="connsiteX34" fmla="*/ 1719987 w 6858000"/>
              <a:gd name="connsiteY34" fmla="*/ 184058 h 7809953"/>
              <a:gd name="connsiteX35" fmla="*/ 1503274 w 6858000"/>
              <a:gd name="connsiteY35" fmla="*/ 167753 h 7809953"/>
              <a:gd name="connsiteX36" fmla="*/ 1296162 w 6858000"/>
              <a:gd name="connsiteY36" fmla="*/ 150776 h 7809953"/>
              <a:gd name="connsiteX37" fmla="*/ 1104138 w 6858000"/>
              <a:gd name="connsiteY37" fmla="*/ 132455 h 7809953"/>
              <a:gd name="connsiteX38" fmla="*/ 923773 w 6858000"/>
              <a:gd name="connsiteY38" fmla="*/ 114469 h 7809953"/>
              <a:gd name="connsiteX39" fmla="*/ 757809 w 6858000"/>
              <a:gd name="connsiteY39" fmla="*/ 96484 h 7809953"/>
              <a:gd name="connsiteX40" fmla="*/ 605562 w 6858000"/>
              <a:gd name="connsiteY40" fmla="*/ 79507 h 7809953"/>
              <a:gd name="connsiteX41" fmla="*/ 470459 w 6858000"/>
              <a:gd name="connsiteY41" fmla="*/ 63370 h 7809953"/>
              <a:gd name="connsiteX42" fmla="*/ 348387 w 6858000"/>
              <a:gd name="connsiteY42" fmla="*/ 48074 h 7809953"/>
              <a:gd name="connsiteX43" fmla="*/ 245517 w 6858000"/>
              <a:gd name="connsiteY43" fmla="*/ 35299 h 7809953"/>
              <a:gd name="connsiteX44" fmla="*/ 159106 w 6858000"/>
              <a:gd name="connsiteY44" fmla="*/ 23197 h 7809953"/>
              <a:gd name="connsiteX45" fmla="*/ 40462 w 6858000"/>
              <a:gd name="connsiteY45" fmla="*/ 5883 h 7809953"/>
              <a:gd name="connsiteX46" fmla="*/ 0 w 6858000"/>
              <a:gd name="connsiteY46" fmla="*/ 0 h 7809953"/>
              <a:gd name="connsiteX47" fmla="*/ 0 w 6858000"/>
              <a:gd name="connsiteY47" fmla="*/ 652830 h 7809953"/>
              <a:gd name="connsiteX48" fmla="*/ 0 w 6858000"/>
              <a:gd name="connsiteY48" fmla="*/ 652830 h 7809953"/>
              <a:gd name="connsiteX49" fmla="*/ 0 w 6858000"/>
              <a:gd name="connsiteY49" fmla="*/ 7809953 h 7809953"/>
              <a:gd name="connsiteX50" fmla="*/ 6857999 w 6858000"/>
              <a:gd name="connsiteY50" fmla="*/ 7809953 h 7809953"/>
              <a:gd name="connsiteX51" fmla="*/ 6857999 w 6858000"/>
              <a:gd name="connsiteY51" fmla="*/ 1344715 h 7809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0" h="7809953">
                <a:moveTo>
                  <a:pt x="6858000" y="1344715"/>
                </a:moveTo>
                <a:lnTo>
                  <a:pt x="6858000" y="1177"/>
                </a:lnTo>
                <a:lnTo>
                  <a:pt x="6702323" y="26222"/>
                </a:lnTo>
                <a:lnTo>
                  <a:pt x="6547332" y="50091"/>
                </a:lnTo>
                <a:lnTo>
                  <a:pt x="6391656" y="73455"/>
                </a:lnTo>
                <a:lnTo>
                  <a:pt x="6235293" y="93458"/>
                </a:lnTo>
                <a:lnTo>
                  <a:pt x="6079617" y="113629"/>
                </a:lnTo>
                <a:lnTo>
                  <a:pt x="5923254" y="132455"/>
                </a:lnTo>
                <a:lnTo>
                  <a:pt x="5768949" y="148591"/>
                </a:lnTo>
                <a:lnTo>
                  <a:pt x="5612587" y="163887"/>
                </a:lnTo>
                <a:lnTo>
                  <a:pt x="5456910" y="177839"/>
                </a:lnTo>
                <a:lnTo>
                  <a:pt x="5303977" y="189941"/>
                </a:lnTo>
                <a:lnTo>
                  <a:pt x="5148986" y="202044"/>
                </a:lnTo>
                <a:lnTo>
                  <a:pt x="4996053" y="212129"/>
                </a:lnTo>
                <a:lnTo>
                  <a:pt x="4843119" y="220029"/>
                </a:lnTo>
                <a:lnTo>
                  <a:pt x="4690872" y="228266"/>
                </a:lnTo>
                <a:lnTo>
                  <a:pt x="4539996" y="235157"/>
                </a:lnTo>
                <a:lnTo>
                  <a:pt x="4390491" y="240032"/>
                </a:lnTo>
                <a:lnTo>
                  <a:pt x="4240987" y="244234"/>
                </a:lnTo>
                <a:lnTo>
                  <a:pt x="4092855" y="248268"/>
                </a:lnTo>
                <a:lnTo>
                  <a:pt x="3946779" y="250117"/>
                </a:lnTo>
                <a:lnTo>
                  <a:pt x="3800704" y="252134"/>
                </a:lnTo>
                <a:lnTo>
                  <a:pt x="3656685" y="253143"/>
                </a:lnTo>
                <a:lnTo>
                  <a:pt x="3514039" y="252134"/>
                </a:lnTo>
                <a:lnTo>
                  <a:pt x="3372765" y="252134"/>
                </a:lnTo>
                <a:lnTo>
                  <a:pt x="3232861" y="250117"/>
                </a:lnTo>
                <a:lnTo>
                  <a:pt x="3095701" y="247092"/>
                </a:lnTo>
                <a:lnTo>
                  <a:pt x="2959913" y="244234"/>
                </a:lnTo>
                <a:lnTo>
                  <a:pt x="2826868" y="241040"/>
                </a:lnTo>
                <a:lnTo>
                  <a:pt x="2694508" y="236166"/>
                </a:lnTo>
                <a:lnTo>
                  <a:pt x="2564207" y="230955"/>
                </a:lnTo>
                <a:lnTo>
                  <a:pt x="2436648" y="226249"/>
                </a:lnTo>
                <a:lnTo>
                  <a:pt x="2187702" y="212969"/>
                </a:lnTo>
                <a:lnTo>
                  <a:pt x="1949044" y="198850"/>
                </a:lnTo>
                <a:lnTo>
                  <a:pt x="1719987" y="184058"/>
                </a:lnTo>
                <a:lnTo>
                  <a:pt x="1503274" y="167753"/>
                </a:lnTo>
                <a:lnTo>
                  <a:pt x="1296162" y="150776"/>
                </a:lnTo>
                <a:lnTo>
                  <a:pt x="1104138" y="132455"/>
                </a:lnTo>
                <a:lnTo>
                  <a:pt x="923773" y="114469"/>
                </a:lnTo>
                <a:lnTo>
                  <a:pt x="757809" y="96484"/>
                </a:lnTo>
                <a:lnTo>
                  <a:pt x="605562" y="79507"/>
                </a:lnTo>
                <a:lnTo>
                  <a:pt x="470459" y="63370"/>
                </a:lnTo>
                <a:lnTo>
                  <a:pt x="348387" y="48074"/>
                </a:lnTo>
                <a:lnTo>
                  <a:pt x="245517" y="35299"/>
                </a:lnTo>
                <a:lnTo>
                  <a:pt x="159106" y="23197"/>
                </a:lnTo>
                <a:lnTo>
                  <a:pt x="40462" y="5883"/>
                </a:lnTo>
                <a:lnTo>
                  <a:pt x="0" y="0"/>
                </a:lnTo>
                <a:lnTo>
                  <a:pt x="0" y="652830"/>
                </a:lnTo>
                <a:lnTo>
                  <a:pt x="0" y="652830"/>
                </a:lnTo>
                <a:lnTo>
                  <a:pt x="0" y="7809953"/>
                </a:lnTo>
                <a:lnTo>
                  <a:pt x="6857999" y="7809953"/>
                </a:lnTo>
                <a:lnTo>
                  <a:pt x="6857999" y="1344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91A0E8-8012-C53F-D10F-4A0E80CDFEF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7"/>
          <a:stretch>
            <a:fillRect/>
          </a:stretch>
        </p:blipFill>
        <p:spPr>
          <a:xfrm>
            <a:off x="643854" y="863989"/>
            <a:ext cx="6270662" cy="2226085"/>
          </a:xfrm>
          <a:prstGeom prst="rect">
            <a:avLst/>
          </a:prstGeom>
          <a:effectLst/>
        </p:spPr>
      </p:pic>
      <p:sp>
        <p:nvSpPr>
          <p:cNvPr id="27" name="Freeform 31">
            <a:extLst>
              <a:ext uri="{FF2B5EF4-FFF2-40B4-BE49-F238E27FC236}">
                <a16:creationId xmlns:a16="http://schemas.microsoft.com/office/drawing/2014/main" id="{AEA0BB24-2B23-4B19-996F-58DA607EE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Content Placeholder 7" descr="A screenshot of a computer">
            <a:extLst>
              <a:ext uri="{FF2B5EF4-FFF2-40B4-BE49-F238E27FC236}">
                <a16:creationId xmlns:a16="http://schemas.microsoft.com/office/drawing/2014/main" id="{0F7A3E38-AB2A-3027-C1CB-F0BF56560CD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8"/>
          <a:stretch>
            <a:fillRect/>
          </a:stretch>
        </p:blipFill>
        <p:spPr>
          <a:xfrm>
            <a:off x="643854" y="3312736"/>
            <a:ext cx="6270662" cy="268127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781279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34</TotalTime>
  <Words>185</Words>
  <Application>Microsoft Office PowerPoint</Application>
  <PresentationFormat>Widescreen</PresentationFormat>
  <Paragraphs>44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Century Gothic</vt:lpstr>
      <vt:lpstr>Wingdings 3</vt:lpstr>
      <vt:lpstr>Ion</vt:lpstr>
      <vt:lpstr>IoT-Based Patient Safety Analytics</vt:lpstr>
      <vt:lpstr>Project Overview</vt:lpstr>
      <vt:lpstr>Dataset Description</vt:lpstr>
      <vt:lpstr>Exploratory Data Analysis (EDA)</vt:lpstr>
      <vt:lpstr>Regression Model</vt:lpstr>
      <vt:lpstr>IoT &amp; Cloud Integration</vt:lpstr>
      <vt:lpstr>Results &amp; Insights</vt:lpstr>
      <vt:lpstr>Conclusion</vt:lpstr>
      <vt:lpstr>Files and folder layout </vt:lpstr>
      <vt:lpstr>Eda  </vt:lpstr>
      <vt:lpstr>Regression model</vt:lpstr>
      <vt:lpstr>readme.md</vt:lpstr>
      <vt:lpstr>Processed data</vt:lpstr>
      <vt:lpstr>Raw data </vt:lpstr>
      <vt:lpstr>Raw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SYED MUHAMMAD YAAMAN| GEDIK STUDENT</dc:creator>
  <cp:lastModifiedBy>SYED MUHAMMAD YAAMAN| GEDIK STUDENT</cp:lastModifiedBy>
  <cp:revision>1</cp:revision>
  <dcterms:created xsi:type="dcterms:W3CDTF">2025-12-24T22:30:35Z</dcterms:created>
  <dcterms:modified xsi:type="dcterms:W3CDTF">2025-12-24T23:05:29Z</dcterms:modified>
</cp:coreProperties>
</file>